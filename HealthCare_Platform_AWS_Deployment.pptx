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0" y="-548640"/>
            <a:ext cx="2286000" cy="2286000"/>
          </a:xfrm>
          <a:prstGeom prst="ellipse">
            <a:avLst/>
          </a:prstGeom>
          <a:solidFill>
            <a:srgbClr val="1B7A78">
              <a:alpha val="25000"/>
            </a:srgbClr>
          </a:solidFill>
          <a:ln w="12700">
            <a:solidFill>
              <a:srgbClr val="1B7A78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3200400"/>
            <a:ext cx="1645920" cy="1645920"/>
          </a:xfrm>
          <a:prstGeom prst="ellipse">
            <a:avLst/>
          </a:prstGeom>
          <a:solidFill>
            <a:srgbClr val="25A09E">
              <a:alpha val="20000"/>
            </a:srgbClr>
          </a:solidFill>
          <a:ln w="12700">
            <a:solidFill>
              <a:srgbClr val="25A09E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22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Platform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11480" y="169164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25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 Deployment &amp; Architecture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11480" y="2304288"/>
            <a:ext cx="5029200" cy="36576"/>
          </a:xfrm>
          <a:prstGeom prst="rect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4231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Healthcare System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A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 · React.js · PostgreSQL · Docker · CI/CD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3383280"/>
            <a:ext cx="850392" cy="292608"/>
          </a:xfrm>
          <a:prstGeom prst="roundRect">
            <a:avLst>
              <a:gd name="adj" fmla="val 15625"/>
            </a:avLst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" y="3410712"/>
            <a:ext cx="758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371600" y="3383280"/>
            <a:ext cx="694944" cy="292608"/>
          </a:xfrm>
          <a:prstGeom prst="roundRect">
            <a:avLst>
              <a:gd name="adj" fmla="val 15625"/>
            </a:avLst>
          </a:prstGeom>
          <a:solidFill>
            <a:srgbClr val="1A3A5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26464" y="3410712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176272" y="3383280"/>
            <a:ext cx="772668" cy="292608"/>
          </a:xfrm>
          <a:prstGeom prst="roundRect">
            <a:avLst>
              <a:gd name="adj" fmla="val 15625"/>
            </a:avLst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31136" y="3410712"/>
            <a:ext cx="6812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058668" y="3383280"/>
            <a:ext cx="1394460" cy="292608"/>
          </a:xfrm>
          <a:prstGeom prst="roundRect">
            <a:avLst>
              <a:gd name="adj" fmla="val 15625"/>
            </a:avLst>
          </a:prstGeom>
          <a:solidFill>
            <a:srgbClr val="1A3A5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13532" y="3410712"/>
            <a:ext cx="13030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+ CloudFront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62856" y="3383280"/>
            <a:ext cx="461772" cy="292608"/>
          </a:xfrm>
          <a:prstGeom prst="roundRect">
            <a:avLst>
              <a:gd name="adj" fmla="val 15625"/>
            </a:avLst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3410712"/>
            <a:ext cx="3703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134356" y="3383280"/>
            <a:ext cx="461772" cy="292608"/>
          </a:xfrm>
          <a:prstGeom prst="roundRect">
            <a:avLst>
              <a:gd name="adj" fmla="val 15625"/>
            </a:avLst>
          </a:prstGeom>
          <a:solidFill>
            <a:srgbClr val="1A3A5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89220" y="3410712"/>
            <a:ext cx="3703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705856" y="3383280"/>
            <a:ext cx="694944" cy="292608"/>
          </a:xfrm>
          <a:prstGeom prst="roundRect">
            <a:avLst>
              <a:gd name="adj" fmla="val 15625"/>
            </a:avLst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0" y="3410712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1480" y="3383280"/>
            <a:ext cx="1316736" cy="292608"/>
          </a:xfrm>
          <a:prstGeom prst="roundRect">
            <a:avLst>
              <a:gd name="adj" fmla="val 15625"/>
            </a:avLst>
          </a:prstGeom>
          <a:solidFill>
            <a:srgbClr val="1A3A5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" y="3410712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" y="4759452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HealthCare Platform Team  |  Cloud Infrastructure Report</a:t>
            </a:r>
            <a:endParaRPr lang="en-US" sz="9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6949440" y="137160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475488" cy="475488"/>
          </a:xfrm>
          <a:prstGeom prst="rect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50976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96926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Tech Stack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682496"/>
            <a:ext cx="475488" cy="475488"/>
          </a:xfrm>
          <a:prstGeom prst="rect">
            <a:avLst/>
          </a:prstGeom>
          <a:solidFill>
            <a:srgbClr val="25A09E"/>
          </a:solidFill>
          <a:ln w="12700">
            <a:solidFill>
              <a:srgbClr val="25A0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737360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17556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Features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468880"/>
            <a:ext cx="475488" cy="475488"/>
          </a:xfrm>
          <a:prstGeom prst="rect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523744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1248" y="25420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Architecture Overview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3255264"/>
            <a:ext cx="475488" cy="475488"/>
          </a:xfrm>
          <a:prstGeom prst="rect">
            <a:avLst/>
          </a:prstGeom>
          <a:solidFill>
            <a:srgbClr val="25A09E"/>
          </a:solidFill>
          <a:ln w="12700">
            <a:solidFill>
              <a:srgbClr val="25A0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310128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332841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– S3 + CloudFront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041648"/>
            <a:ext cx="475488" cy="475488"/>
          </a:xfrm>
          <a:prstGeom prst="rect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09651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1248" y="41148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– EC2 + Docker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896112"/>
            <a:ext cx="475488" cy="475488"/>
          </a:xfrm>
          <a:prstGeom prst="rect">
            <a:avLst/>
          </a:prstGeom>
          <a:solidFill>
            <a:srgbClr val="25A09E"/>
          </a:solidFill>
          <a:ln w="12700">
            <a:solidFill>
              <a:srgbClr val="25A09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950976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321808" y="96926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– Amazon RDS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1682496"/>
            <a:ext cx="475488" cy="475488"/>
          </a:xfrm>
          <a:prstGeom prst="rect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737360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321808" y="17556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Registry – ECR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2468880"/>
            <a:ext cx="475488" cy="475488"/>
          </a:xfrm>
          <a:prstGeom prst="rect">
            <a:avLst/>
          </a:prstGeom>
          <a:solidFill>
            <a:srgbClr val="25A09E"/>
          </a:solidFill>
          <a:ln w="12700">
            <a:solidFill>
              <a:srgbClr val="25A0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523744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321808" y="25420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– VPC, SG, IAM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54880" y="3255264"/>
            <a:ext cx="475488" cy="475488"/>
          </a:xfrm>
          <a:prstGeom prst="rect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3310128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321808" y="33284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754880" y="4041648"/>
            <a:ext cx="475488" cy="475488"/>
          </a:xfrm>
          <a:prstGeom prst="rect">
            <a:avLst/>
          </a:prstGeom>
          <a:solidFill>
            <a:srgbClr val="25A09E"/>
          </a:solidFill>
          <a:ln w="12700">
            <a:solidFill>
              <a:srgbClr val="25A09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409651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321808" y="41148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Best Practices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Tech Stack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863840" y="146304"/>
            <a:ext cx="1097280" cy="347472"/>
          </a:xfrm>
          <a:prstGeom prst="roundRect">
            <a:avLst>
              <a:gd name="adj" fmla="val 13158"/>
            </a:avLst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Healthcare Management Platform enabling patients, doctors, and hospitals to collaborate seamlessly — deployed on AWS with enterprise-grade architecture.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417320"/>
            <a:ext cx="1627632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417320"/>
            <a:ext cx="1627632" cy="475488"/>
          </a:xfrm>
          <a:prstGeom prst="rect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50876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651760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18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127248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602736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Axios, JWT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11680" y="1417320"/>
            <a:ext cx="1627632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11680" y="1417320"/>
            <a:ext cx="1627632" cy="475488"/>
          </a:xfrm>
          <a:prstGeom prst="rect">
            <a:avLst/>
          </a:prstGeom>
          <a:solidFill>
            <a:srgbClr val="1A6090"/>
          </a:solidFill>
          <a:ln w="12700">
            <a:solidFill>
              <a:srgbClr val="1A6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84832" y="150876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03120" y="2651760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4.2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03120" y="3127248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DRF + JWT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03120" y="3602736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+ Redis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749040" y="1417320"/>
            <a:ext cx="1627632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49040" y="1417320"/>
            <a:ext cx="1627632" cy="475488"/>
          </a:xfrm>
          <a:prstGeom prst="rect">
            <a:avLst/>
          </a:prstGeom>
          <a:solidFill>
            <a:srgbClr val="6A3DA8"/>
          </a:solidFill>
          <a:ln w="12700">
            <a:solidFill>
              <a:srgbClr val="6A3D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22192" y="150876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40480" y="2651760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0480" y="3127248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RDS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40480" y="3602736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DB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0" y="1417320"/>
            <a:ext cx="1627632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0" y="1417320"/>
            <a:ext cx="1627632" cy="475488"/>
          </a:xfrm>
          <a:prstGeom prst="rect">
            <a:avLst/>
          </a:prstGeom>
          <a:solidFill>
            <a:srgbClr val="CC5200"/>
          </a:solidFill>
          <a:ln w="12700">
            <a:solidFill>
              <a:srgbClr val="CC52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59552" y="150876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77840" y="2651760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ECR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77840" y="3127248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77840" y="3602736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223760" y="1417320"/>
            <a:ext cx="1627632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223760" y="1417320"/>
            <a:ext cx="1627632" cy="475488"/>
          </a:xfrm>
          <a:prstGeom prst="rect">
            <a:avLst/>
          </a:prstGeom>
          <a:solidFill>
            <a:srgbClr val="1A7A50"/>
          </a:solidFill>
          <a:ln w="12700">
            <a:solidFill>
              <a:srgbClr val="1A7A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96912" y="150876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315200" y="2651760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Channels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315200" y="3127248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315200" y="3602736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Pub/Sub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" y="4526280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E8F4F4"/>
          </a:solidFill>
          <a:ln w="12700">
            <a:solidFill>
              <a:srgbClr val="C8DA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572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Daily.co Video API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441448" y="4526280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E8F4F4"/>
          </a:solidFill>
          <a:ln w="12700">
            <a:solidFill>
              <a:srgbClr val="C8DAD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32888" y="4572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Fast2SMS OTP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08576" y="4526280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E8F4F4"/>
          </a:solidFill>
          <a:ln w="12700">
            <a:solidFill>
              <a:srgbClr val="C8DAD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0016" y="4572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Gmail SMTP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775704" y="4526280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E8F4F4"/>
          </a:solidFill>
          <a:ln w="12700">
            <a:solidFill>
              <a:srgbClr val="C8DAD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67144" y="4572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WebSocket Chat</a:t>
            </a:r>
            <a:endParaRPr lang="en-US" sz="950" dirty="0"/>
          </a:p>
        </p:txBody>
      </p:sp>
      <p:pic>
        <p:nvPicPr>
          <p:cNvPr id="4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057400"/>
            <a:ext cx="457200" cy="457200"/>
          </a:xfrm>
          <a:prstGeom prst="rect">
            <a:avLst/>
          </a:prstGeom>
        </p:spPr>
      </p:pic>
      <p:pic>
        <p:nvPicPr>
          <p:cNvPr id="4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896" y="2057400"/>
            <a:ext cx="457200" cy="457200"/>
          </a:xfrm>
          <a:prstGeom prst="rect">
            <a:avLst/>
          </a:prstGeom>
        </p:spPr>
      </p:pic>
      <p:pic>
        <p:nvPicPr>
          <p:cNvPr id="4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1616" y="2057400"/>
            <a:ext cx="457200" cy="457200"/>
          </a:xfrm>
          <a:prstGeom prst="rect">
            <a:avLst/>
          </a:prstGeom>
        </p:spPr>
      </p:pic>
      <p:pic>
        <p:nvPicPr>
          <p:cNvPr id="4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4256" y="2057400"/>
            <a:ext cx="457200" cy="457200"/>
          </a:xfrm>
          <a:prstGeom prst="rect">
            <a:avLst/>
          </a:prstGeom>
        </p:spPr>
      </p:pic>
      <p:pic>
        <p:nvPicPr>
          <p:cNvPr id="5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8976" y="205740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Application Features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863840" y="146304"/>
            <a:ext cx="1097280" cy="347472"/>
          </a:xfrm>
          <a:prstGeom prst="roundRect">
            <a:avLst>
              <a:gd name="adj" fmla="val 13158"/>
            </a:avLst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2062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04672"/>
            <a:ext cx="54864" cy="1920240"/>
          </a:xfrm>
          <a:prstGeom prst="rect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91440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OTP-Based Registration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408176"/>
            <a:ext cx="395020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OTP verification via Email + SMS (Fast2SMS). JWT-based auth with role management for Patient, Doctor, Hospital Admin, Super Admin.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804672"/>
            <a:ext cx="42062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04672"/>
            <a:ext cx="54864" cy="1920240"/>
          </a:xfrm>
          <a:prstGeom prst="rect">
            <a:avLst/>
          </a:prstGeom>
          <a:solidFill>
            <a:srgbClr val="6A3DA8"/>
          </a:solidFill>
          <a:ln w="12700">
            <a:solidFill>
              <a:srgbClr val="6A3D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67528" y="91440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408176"/>
            <a:ext cx="395020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registration with approval workflow, blacklist capability, specialty listing, documents upload, and admin controls.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889504"/>
            <a:ext cx="42062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889504"/>
            <a:ext cx="54864" cy="1920240"/>
          </a:xfrm>
          <a:prstGeom prst="rect">
            <a:avLst/>
          </a:prstGeom>
          <a:solidFill>
            <a:srgbClr val="CC5200"/>
          </a:solidFill>
          <a:ln w="12700">
            <a:solidFill>
              <a:srgbClr val="CC52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299923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Management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3493008"/>
            <a:ext cx="395020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profiles with specialization, license, availability scheduling, slot management, leave system, and blacklist control.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2889504"/>
            <a:ext cx="42062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889504"/>
            <a:ext cx="54864" cy="1920240"/>
          </a:xfrm>
          <a:prstGeom prst="rect">
            <a:avLst/>
          </a:prstGeom>
          <a:solidFill>
            <a:srgbClr val="1A7A50"/>
          </a:solidFill>
          <a:ln w="12700">
            <a:solidFill>
              <a:srgbClr val="1A7A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67528" y="299923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Booking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3493008"/>
            <a:ext cx="395020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Slot-based appointment booking, reschedule/cancel flow, video consultation link generation via Daily.co, and status tracking.</a:t>
            </a:r>
            <a:endParaRPr lang="en-US" sz="10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14400"/>
            <a:ext cx="438912" cy="438912"/>
          </a:xfrm>
          <a:prstGeom prst="rect">
            <a:avLst/>
          </a:prstGeom>
        </p:spPr>
      </p:pic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914400"/>
            <a:ext cx="438912" cy="438912"/>
          </a:xfrm>
          <a:prstGeom prst="rect">
            <a:avLst/>
          </a:prstGeom>
        </p:spPr>
      </p:pic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99232"/>
            <a:ext cx="438912" cy="438912"/>
          </a:xfrm>
          <a:prstGeom prst="rect">
            <a:avLst/>
          </a:prstGeom>
        </p:spPr>
      </p:pic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999232"/>
            <a:ext cx="438912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Application Features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863840" y="146304"/>
            <a:ext cx="1097280" cy="347472"/>
          </a:xfrm>
          <a:prstGeom prst="roundRect">
            <a:avLst>
              <a:gd name="adj" fmla="val 13158"/>
            </a:avLst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2062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04672"/>
            <a:ext cx="54864" cy="1920240"/>
          </a:xfrm>
          <a:prstGeom prst="rect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91440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Chat (WebSocket)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408176"/>
            <a:ext cx="395020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Patient-doctor chat with text, image, voice messages, file sharing, prescription sharing, read receipts &amp; online status.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804672"/>
            <a:ext cx="42062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04672"/>
            <a:ext cx="54864" cy="1920240"/>
          </a:xfrm>
          <a:prstGeom prst="rect">
            <a:avLst/>
          </a:prstGeom>
          <a:solidFill>
            <a:srgbClr val="CC5200"/>
          </a:solidFill>
          <a:ln w="12700">
            <a:solidFill>
              <a:srgbClr val="CC52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67528" y="91440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Consultation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408176"/>
            <a:ext cx="395020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Daily.co video calls, meeting room creation, join tracking, and auto-cleanup on cancellation.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889504"/>
            <a:ext cx="42062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889504"/>
            <a:ext cx="54864" cy="1920240"/>
          </a:xfrm>
          <a:prstGeom prst="rect">
            <a:avLst/>
          </a:prstGeom>
          <a:solidFill>
            <a:srgbClr val="6A3DA8"/>
          </a:solidFill>
          <a:ln w="12700">
            <a:solidFill>
              <a:srgbClr val="6A3D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299923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&amp; Medical Records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3493008"/>
            <a:ext cx="395020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prescriptions with medicines, diagnosis, follow-up dates. Medical record uploads (reports, scans, discharge summaries).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2889504"/>
            <a:ext cx="42062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889504"/>
            <a:ext cx="54864" cy="1920240"/>
          </a:xfrm>
          <a:prstGeom prst="rect">
            <a:avLst/>
          </a:prstGeom>
          <a:solidFill>
            <a:srgbClr val="1A7A50"/>
          </a:solidFill>
          <a:ln w="12700">
            <a:solidFill>
              <a:srgbClr val="1A7A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67528" y="299923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&amp; Notifications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3493008"/>
            <a:ext cx="395020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reviews for doctors and hospitals. Real-time in-app notifications for appointments, reminders via WebSocket push.</a:t>
            </a:r>
            <a:endParaRPr lang="en-US" sz="10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914400"/>
            <a:ext cx="438912" cy="438912"/>
          </a:xfrm>
          <a:prstGeom prst="rect">
            <a:avLst/>
          </a:prstGeom>
        </p:spPr>
      </p:pic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438912" cy="438912"/>
          </a:xfrm>
          <a:prstGeom prst="rect">
            <a:avLst/>
          </a:prstGeom>
        </p:spPr>
      </p:pic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99232"/>
            <a:ext cx="438912" cy="438912"/>
          </a:xfrm>
          <a:prstGeom prst="rect">
            <a:avLst/>
          </a:prstGeom>
        </p:spPr>
      </p:pic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999232"/>
            <a:ext cx="438912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 &amp; Access Control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863840" y="146304"/>
            <a:ext cx="1097280" cy="347472"/>
          </a:xfrm>
          <a:prstGeom prst="roundRect">
            <a:avLst>
              <a:gd name="adj" fmla="val 13158"/>
            </a:avLst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6032" y="777240"/>
            <a:ext cx="2029968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777240"/>
            <a:ext cx="2029968" cy="594360"/>
          </a:xfrm>
          <a:prstGeom prst="rect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1399032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80136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Book / cancel appointments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29514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Video consultation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78892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Chat with doctor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328269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View prescriptions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37764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Upload medical records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42702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Rate doctors &amp; hospitals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432304" y="777240"/>
            <a:ext cx="2029968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32304" y="777240"/>
            <a:ext cx="2029968" cy="594360"/>
          </a:xfrm>
          <a:prstGeom prst="rect">
            <a:avLst/>
          </a:prstGeom>
          <a:solidFill>
            <a:srgbClr val="6A3DA8"/>
          </a:solidFill>
          <a:ln w="12700">
            <a:solidFill>
              <a:srgbClr val="6A3D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05456" y="1399032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A3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42032" y="180136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Manage availability &amp; slots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542032" y="229514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View patient list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42032" y="278892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Create prescriptions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542032" y="328269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Chat with patients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542032" y="37764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Apply for leave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542032" y="42702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Join video calls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08576" y="777240"/>
            <a:ext cx="2029968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08576" y="777240"/>
            <a:ext cx="2029968" cy="594360"/>
          </a:xfrm>
          <a:prstGeom prst="rect">
            <a:avLst/>
          </a:prstGeom>
          <a:solidFill>
            <a:srgbClr val="CC5200"/>
          </a:solidFill>
          <a:ln w="12700">
            <a:solidFill>
              <a:srgbClr val="CC52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1728" y="1399032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Admin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18304" y="180136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Register &amp; manage hospital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18304" y="229514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Approve doctors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18304" y="278892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Manage hospital profile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18304" y="328269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View doctors list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18304" y="37764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Upload documents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18304" y="42702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Hospital analytics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784848" y="777240"/>
            <a:ext cx="2029968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E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784848" y="777240"/>
            <a:ext cx="2029968" cy="594360"/>
          </a:xfrm>
          <a:prstGeom prst="rect">
            <a:avLst/>
          </a:prstGeom>
          <a:solidFill>
            <a:srgbClr val="1A3A60"/>
          </a:solidFill>
          <a:ln w="12700">
            <a:solidFill>
              <a:srgbClr val="1A3A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0" y="1399032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894576" y="180136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Approve hospitals &amp; doctors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894576" y="229514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Blacklist management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894576" y="278892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User management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894576" y="328269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System-wide oversight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894576" y="37764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Manage all entities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894576" y="42702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Platform control</a:t>
            </a:r>
            <a:endParaRPr lang="en-US" sz="950" dirty="0"/>
          </a:p>
        </p:txBody>
      </p:sp>
      <p:pic>
        <p:nvPicPr>
          <p:cNvPr id="4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850392"/>
            <a:ext cx="457200" cy="457200"/>
          </a:xfrm>
          <a:prstGeom prst="rect">
            <a:avLst/>
          </a:prstGeom>
        </p:spPr>
      </p:pic>
      <p:pic>
        <p:nvPicPr>
          <p:cNvPr id="4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850392"/>
            <a:ext cx="457200" cy="457200"/>
          </a:xfrm>
          <a:prstGeom prst="rect">
            <a:avLst/>
          </a:prstGeom>
        </p:spPr>
      </p:pic>
      <p:pic>
        <p:nvPicPr>
          <p:cNvPr id="4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1232" y="850392"/>
            <a:ext cx="457200" cy="457200"/>
          </a:xfrm>
          <a:prstGeom prst="rect">
            <a:avLst/>
          </a:prstGeom>
        </p:spPr>
      </p:pic>
      <p:pic>
        <p:nvPicPr>
          <p:cNvPr id="4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8688" y="850392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Architecture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863840" y="146304"/>
            <a:ext cx="1097280" cy="347472"/>
          </a:xfrm>
          <a:prstGeom prst="roundRect">
            <a:avLst>
              <a:gd name="adj" fmla="val 13158"/>
            </a:avLst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6032" y="804672"/>
            <a:ext cx="1188720" cy="502920"/>
          </a:xfrm>
          <a:prstGeom prst="rect">
            <a:avLst/>
          </a:prstGeom>
          <a:solidFill>
            <a:srgbClr val="EFF7FF"/>
          </a:solidFill>
          <a:ln w="12700">
            <a:solidFill>
              <a:srgbClr val="4472C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01752" y="85039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Users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3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(Browser)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20240" y="804672"/>
            <a:ext cx="1463040" cy="50292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65960" y="85039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64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CloudFront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64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444752" y="1051560"/>
            <a:ext cx="475488" cy="0"/>
          </a:xfrm>
          <a:prstGeom prst="line">
            <a:avLst/>
          </a:prstGeom>
          <a:noFill/>
          <a:ln w="19050">
            <a:solidFill>
              <a:srgbClr val="1B7A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81328" y="914400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6572"/>
                </a:solidFill>
              </a:rPr>
              <a:t>HTTPS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749040" y="804672"/>
            <a:ext cx="1371600" cy="5029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94760" y="85039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🪣 S3 Bucket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App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83280" y="1051560"/>
            <a:ext cx="365760" cy="0"/>
          </a:xfrm>
          <a:prstGeom prst="line">
            <a:avLst/>
          </a:prstGeom>
          <a:noFill/>
          <a:ln w="19050">
            <a:solidFill>
              <a:srgbClr val="1B7A7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" y="1536192"/>
            <a:ext cx="8641080" cy="3291840"/>
          </a:xfrm>
          <a:prstGeom prst="rect">
            <a:avLst/>
          </a:prstGeom>
          <a:solidFill>
            <a:srgbClr val="F0F8FF"/>
          </a:solidFill>
          <a:ln w="15240">
            <a:solidFill>
              <a:srgbClr val="2196F3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47472" y="1581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VPC  (ap-south-1)  —  New Dedicated VPC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11480" y="1938528"/>
            <a:ext cx="1920240" cy="65836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198424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EC2 Instance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t2.micro / Amazon Linux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" y="2743200"/>
            <a:ext cx="1737360" cy="548640"/>
          </a:xfrm>
          <a:prstGeom prst="rect">
            <a:avLst/>
          </a:prstGeom>
          <a:solidFill>
            <a:srgbClr val="E1F5FE"/>
          </a:solidFill>
          <a:ln w="12700">
            <a:solidFill>
              <a:srgbClr val="0277B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2788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7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Docker Container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27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+ Daphne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371600" y="2596896"/>
            <a:ext cx="0" cy="146304"/>
          </a:xfrm>
          <a:prstGeom prst="line">
            <a:avLst/>
          </a:prstGeom>
          <a:noFill/>
          <a:ln w="19050">
            <a:solidFill>
              <a:srgbClr val="1B7A7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31720" y="2267712"/>
            <a:ext cx="685800" cy="0"/>
          </a:xfrm>
          <a:prstGeom prst="line">
            <a:avLst/>
          </a:prstGeom>
          <a:noFill/>
          <a:ln w="19050">
            <a:solidFill>
              <a:srgbClr val="1B7A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59152" y="208483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6572"/>
                </a:solidFill>
              </a:rPr>
              <a:t>REST API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4A6572"/>
                </a:solidFill>
              </a:rPr>
              <a:t>+ WebSocket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063240" y="1938528"/>
            <a:ext cx="1463040" cy="658368"/>
          </a:xfrm>
          <a:prstGeom prst="rect">
            <a:avLst/>
          </a:prstGeom>
          <a:solidFill>
            <a:srgbClr val="FFF8E1"/>
          </a:solidFill>
          <a:ln w="12700">
            <a:solidFill>
              <a:srgbClr val="F57F1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108960" y="198424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6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ElastiCache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6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(Celery)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46320" y="1938528"/>
            <a:ext cx="1737360" cy="658368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92040" y="198424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Amazon RDS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063240" y="2267712"/>
            <a:ext cx="1783080" cy="0"/>
          </a:xfrm>
          <a:prstGeom prst="line">
            <a:avLst/>
          </a:prstGeom>
          <a:noFill/>
          <a:ln w="19050">
            <a:solidFill>
              <a:srgbClr val="1B7A7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0" y="1938528"/>
            <a:ext cx="1737360" cy="658368"/>
          </a:xfrm>
          <a:prstGeom prst="rect">
            <a:avLst/>
          </a:prstGeom>
          <a:solidFill>
            <a:srgbClr val="FCE4EC"/>
          </a:solidFill>
          <a:ln w="12700">
            <a:solidFill>
              <a:srgbClr val="880E4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903720" y="198424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Amazon ECR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 Registry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583680" y="2267712"/>
            <a:ext cx="274320" cy="0"/>
          </a:xfrm>
          <a:prstGeom prst="line">
            <a:avLst/>
          </a:prstGeom>
          <a:noFill/>
          <a:ln w="19050">
            <a:solidFill>
              <a:srgbClr val="1B7A7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63240" y="2743200"/>
            <a:ext cx="1463040" cy="621792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108960" y="278892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Security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+ IAM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46320" y="2743200"/>
            <a:ext cx="1737360" cy="621792"/>
          </a:xfrm>
          <a:prstGeom prst="rect">
            <a:avLst/>
          </a:prstGeom>
          <a:solidFill>
            <a:srgbClr val="E8EAF6"/>
          </a:solidFill>
          <a:ln w="12700">
            <a:solidFill>
              <a:srgbClr val="1A237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892040" y="278892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Internet Gateway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Route Tables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035040" y="804672"/>
            <a:ext cx="2377440" cy="502920"/>
          </a:xfrm>
          <a:prstGeom prst="rect">
            <a:avLst/>
          </a:prstGeom>
          <a:solidFill>
            <a:srgbClr val="F3E5F5"/>
          </a:solidFill>
          <a:ln w="12700">
            <a:solidFill>
              <a:srgbClr val="880E4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080760" y="8503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GitHub Actions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→ ECR → EC2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035040" y="1051560"/>
            <a:ext cx="2377440" cy="0"/>
          </a:xfrm>
          <a:prstGeom prst="line">
            <a:avLst/>
          </a:prstGeom>
          <a:noFill/>
          <a:ln w="19050">
            <a:solidFill>
              <a:srgbClr val="1B7A7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772400" y="1307592"/>
            <a:ext cx="0" cy="630936"/>
          </a:xfrm>
          <a:prstGeom prst="line">
            <a:avLst/>
          </a:prstGeom>
          <a:noFill/>
          <a:ln w="19050">
            <a:solidFill>
              <a:srgbClr val="1B7A7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2920" y="3429000"/>
            <a:ext cx="1737360" cy="420624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48640" y="347472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64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Celery Worker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C64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SMS Tasks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Deployment – S3 + CloudFront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863840" y="146304"/>
            <a:ext cx="1097280" cy="347472"/>
          </a:xfrm>
          <a:prstGeom prst="roundRect">
            <a:avLst>
              <a:gd name="adj" fmla="val 13158"/>
            </a:avLst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6032" y="777240"/>
            <a:ext cx="411480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777240"/>
            <a:ext cx="411480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8229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🪣  Amazon S3 – Static Hosting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4048" y="1344168"/>
            <a:ext cx="128016" cy="12801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316736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build artifacts deployed to S3 bucket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4048" y="1837944"/>
            <a:ext cx="128016" cy="12801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1810512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Bucket: healthcare-platform-live-017677777129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2331720"/>
            <a:ext cx="128016" cy="12801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304288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website hosting enabled on bucket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4048" y="2825496"/>
            <a:ext cx="128016" cy="12801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798064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read policy for web serving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4048" y="3319272"/>
            <a:ext cx="128016" cy="12801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291840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auto-syncs build/ folder via: aws s3 sync build/ s3://&lt;bucket&gt; --delete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048" y="3813048"/>
            <a:ext cx="128016" cy="12801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785616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Region: ap-south-1 (Mumbai)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84048" y="4306824"/>
            <a:ext cx="128016" cy="12801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4279392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URL used as CloudFront origin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45152" y="777240"/>
            <a:ext cx="425196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45152" y="777240"/>
            <a:ext cx="4251960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36592" y="82296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AWS CloudFront – CDN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73168" y="1344168"/>
            <a:ext cx="128016" cy="128016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6048" y="1316736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distribution serves the React app globally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73168" y="1837944"/>
            <a:ext cx="128016" cy="128016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56048" y="1810512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S3 website endpoint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73168" y="2331720"/>
            <a:ext cx="128016" cy="128016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6048" y="2304288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enabled with SSL/TLS termination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73168" y="2825496"/>
            <a:ext cx="128016" cy="128016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56048" y="2798064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locations for low-latency worldwide delivery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73168" y="3319272"/>
            <a:ext cx="128016" cy="128016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56048" y="3291840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error pages – 403/404 → /index.html (SPA routing)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73168" y="3813048"/>
            <a:ext cx="128016" cy="128016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56048" y="3785616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behaviors configured for static assets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73168" y="4306824"/>
            <a:ext cx="128016" cy="128016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56048" y="4279392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invalidation on every new deployment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Deployment – EC2 + Docker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863840" y="146304"/>
            <a:ext cx="1097280" cy="347472"/>
          </a:xfrm>
          <a:prstGeom prst="roundRect">
            <a:avLst>
              <a:gd name="adj" fmla="val 13158"/>
            </a:avLst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6032" y="777240"/>
            <a:ext cx="20116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777240"/>
            <a:ext cx="201168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" y="87782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01752" y="131673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t2.micro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Linux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68880" y="777240"/>
            <a:ext cx="20116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777240"/>
            <a:ext cx="2011680" cy="73152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87782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7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514600" y="131673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App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81728" y="777240"/>
            <a:ext cx="20116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81728" y="777240"/>
            <a:ext cx="2011680" cy="73152"/>
          </a:xfrm>
          <a:prstGeom prst="rect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27448" y="87782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Daphne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727448" y="131673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ASGI Server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(HTTP+WS)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94576" y="777240"/>
            <a:ext cx="20116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94576" y="777240"/>
            <a:ext cx="2011680" cy="7315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0296" y="87782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40296" y="131673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Task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6032" y="1938528"/>
            <a:ext cx="8641080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199339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Flow on EC2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" y="2404872"/>
            <a:ext cx="274320" cy="274320"/>
          </a:xfrm>
          <a:prstGeom prst="ellipse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241401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3232" y="240487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 built via GitHub Actions CI/CD pipeline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7472" y="2770632"/>
            <a:ext cx="274320" cy="274320"/>
          </a:xfrm>
          <a:prstGeom prst="ellipse">
            <a:avLst/>
          </a:prstGeom>
          <a:solidFill>
            <a:srgbClr val="6A3DA8"/>
          </a:solidFill>
          <a:ln w="12700">
            <a:solidFill>
              <a:srgbClr val="6A3D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277977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3232" y="277063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pushed to Amazon ECR (Elastic Container Registry)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3136392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314553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3232" y="313639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pulls latest image from ECR on every deployment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47472" y="3502152"/>
            <a:ext cx="274320" cy="27432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351129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13232" y="350215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 runs: Django + Daphne ASGI server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47472" y="3867912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" y="387705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13232" y="386791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worker runs alongside for async email/SMS tasks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47472" y="4233672"/>
            <a:ext cx="274320" cy="274320"/>
          </a:xfrm>
          <a:prstGeom prst="ellipse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" y="424281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13232" y="423367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used as Celery broker + Django Channels layer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– Amazon RDS (PostgreSQL)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863840" y="146304"/>
            <a:ext cx="1097280" cy="347472"/>
          </a:xfrm>
          <a:prstGeom prst="roundRect">
            <a:avLst>
              <a:gd name="adj" fmla="val 13158"/>
            </a:avLst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6032" y="777240"/>
            <a:ext cx="448056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777240"/>
            <a:ext cx="4480560" cy="4572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82296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Amazon RDS Configuration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" y="135331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719072" y="135331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7472" y="1737360"/>
            <a:ext cx="4251960" cy="0"/>
          </a:xfrm>
          <a:prstGeom prst="line">
            <a:avLst/>
          </a:prstGeom>
          <a:noFill/>
          <a:ln w="6350">
            <a:solidFill>
              <a:srgbClr val="E8F0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8288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Instance: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719072" y="18288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db.t3.micro (Free Tier)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7472" y="2212848"/>
            <a:ext cx="4251960" cy="0"/>
          </a:xfrm>
          <a:prstGeom prst="line">
            <a:avLst/>
          </a:prstGeom>
          <a:noFill/>
          <a:ln w="6350">
            <a:solidFill>
              <a:srgbClr val="E8F0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3042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Name: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719072" y="230428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healthcare_db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47472" y="2688336"/>
            <a:ext cx="4251960" cy="0"/>
          </a:xfrm>
          <a:prstGeom prst="line">
            <a:avLst/>
          </a:prstGeom>
          <a:noFill/>
          <a:ln w="6350">
            <a:solidFill>
              <a:srgbClr val="E8F0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77977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Region: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719072" y="277977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ap-south-1 (Mumbai)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7472" y="3163824"/>
            <a:ext cx="4251960" cy="0"/>
          </a:xfrm>
          <a:prstGeom prst="line">
            <a:avLst/>
          </a:prstGeom>
          <a:noFill/>
          <a:ln w="6350">
            <a:solidFill>
              <a:srgbClr val="E8F0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25526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719072" y="325526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daily backups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7472" y="3639312"/>
            <a:ext cx="4251960" cy="0"/>
          </a:xfrm>
          <a:prstGeom prst="line">
            <a:avLst/>
          </a:prstGeom>
          <a:noFill/>
          <a:ln w="6350">
            <a:solidFill>
              <a:srgbClr val="E8F0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373075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719072" y="373075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subnet, Security Group restricted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7472" y="4114800"/>
            <a:ext cx="4251960" cy="0"/>
          </a:xfrm>
          <a:prstGeom prst="line">
            <a:avLst/>
          </a:prstGeom>
          <a:noFill/>
          <a:ln w="6350">
            <a:solidFill>
              <a:srgbClr val="E8F0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42062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ORM: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719072" y="42062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psycopg2 binary driver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956048" y="777240"/>
            <a:ext cx="39319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56048" y="777240"/>
            <a:ext cx="393192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47488" y="8229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Database Schema (Apps)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074920" y="13258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users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784848" y="1325880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roles, OTP verification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74920" y="167335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hospitals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784848" y="1673352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info, status, blacklist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074920" y="202082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hospital_documents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784848" y="2020824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74920" y="236829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doctors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784848" y="2368296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Profile, slots, leave, ratings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074920" y="271576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appointments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784848" y="2715768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Booking, video, status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074920" y="30632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prescriptions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784848" y="3063240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Medicines, diagnosis, follow-up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074920" y="341071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medical_records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784848" y="3410712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reports, scans, discharge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074920" y="375818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chat_rooms / messages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784848" y="3758184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chat data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074920" y="410565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notifications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784848" y="4105656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notification store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074920" y="445312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doctor_reviews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784848" y="4453128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&amp; feedback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Registry – Amazon ECR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863840" y="146304"/>
            <a:ext cx="1097280" cy="347472"/>
          </a:xfrm>
          <a:prstGeom prst="roundRect">
            <a:avLst>
              <a:gd name="adj" fmla="val 13158"/>
            </a:avLst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6032" y="777240"/>
            <a:ext cx="8641080" cy="1371600"/>
          </a:xfrm>
          <a:prstGeom prst="rect">
            <a:avLst/>
          </a:prstGeom>
          <a:solidFill>
            <a:srgbClr val="FCE4EC"/>
          </a:solidFill>
          <a:ln w="10160">
            <a:solidFill>
              <a:srgbClr val="880E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686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Amazon Elastic Container Registry (ECR)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1316736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Docker image registry hosted on AWS. Docker images are built by GitHub Actions and pushed to ECR. EC2 pulls the latest image on every deployment — no manual image transfer needed.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" y="2331720"/>
            <a:ext cx="16459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41832" y="2395728"/>
            <a:ext cx="420624" cy="420624"/>
          </a:xfrm>
          <a:prstGeom prst="ellipse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2414016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" y="2926080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" y="3337560"/>
            <a:ext cx="149961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builds Docker image from Dockerfile in backend repo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901952" y="3611880"/>
            <a:ext cx="109728" cy="0"/>
          </a:xfrm>
          <a:prstGeom prst="line">
            <a:avLst/>
          </a:prstGeom>
          <a:noFill/>
          <a:ln w="25400">
            <a:solidFill>
              <a:srgbClr val="1B7A7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11680" y="2331720"/>
            <a:ext cx="16459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697480" y="2395728"/>
            <a:ext cx="420624" cy="420624"/>
          </a:xfrm>
          <a:prstGeom prst="ellipse">
            <a:avLst/>
          </a:prstGeom>
          <a:solidFill>
            <a:srgbClr val="6A3DA8"/>
          </a:solidFill>
          <a:ln w="12700">
            <a:solidFill>
              <a:srgbClr val="6A3D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97480" y="2414016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084832" y="2926080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3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084832" y="3337560"/>
            <a:ext cx="149961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tagged with ECR repository URI &amp; commit SHA for traceability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0" y="3611880"/>
            <a:ext cx="109728" cy="0"/>
          </a:xfrm>
          <a:prstGeom prst="line">
            <a:avLst/>
          </a:prstGeom>
          <a:noFill/>
          <a:ln w="25400">
            <a:solidFill>
              <a:srgbClr val="1B7A7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67328" y="2331720"/>
            <a:ext cx="16459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453128" y="2395728"/>
            <a:ext cx="420624" cy="420624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53128" y="2414016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840480" y="2926080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840480" y="3337560"/>
            <a:ext cx="149961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authenticates to ECR using IAM Role via OIDC / access keys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13248" y="3611880"/>
            <a:ext cx="109728" cy="0"/>
          </a:xfrm>
          <a:prstGeom prst="line">
            <a:avLst/>
          </a:prstGeom>
          <a:noFill/>
          <a:ln w="25400">
            <a:solidFill>
              <a:srgbClr val="1B7A7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22976" y="2331720"/>
            <a:ext cx="16459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08776" y="2395728"/>
            <a:ext cx="420624" cy="42062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08776" y="2414016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596128" y="2926080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596128" y="3337560"/>
            <a:ext cx="149961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push → image lands in private ECR repository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168896" y="3611880"/>
            <a:ext cx="109728" cy="0"/>
          </a:xfrm>
          <a:prstGeom prst="line">
            <a:avLst/>
          </a:prstGeom>
          <a:noFill/>
          <a:ln w="25400">
            <a:solidFill>
              <a:srgbClr val="1B7A7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78624" y="2331720"/>
            <a:ext cx="16459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964424" y="2395728"/>
            <a:ext cx="420624" cy="42062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64424" y="2414016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351776" y="2926080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351776" y="3337560"/>
            <a:ext cx="149961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instance runs docker pull on deploy; container restarted with new image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– VPC, Security Groups &amp; IAM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863840" y="146304"/>
            <a:ext cx="1097280" cy="347472"/>
          </a:xfrm>
          <a:prstGeom prst="roundRect">
            <a:avLst>
              <a:gd name="adj" fmla="val 13158"/>
            </a:avLst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6032" y="777240"/>
            <a:ext cx="27889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777240"/>
            <a:ext cx="278892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8229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VPC (Virtual Private Cloud)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353312"/>
            <a:ext cx="109728" cy="10972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31673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custom VPC created for the project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1828800"/>
            <a:ext cx="109728" cy="10972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79222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Region: ap-south-1 (Mumbai)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304288"/>
            <a:ext cx="109728" cy="10972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26771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subnets for EC2 (internet accessible)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779776"/>
            <a:ext cx="109728" cy="10972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74320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subnets for RDS (DB not internet-facing)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255264"/>
            <a:ext cx="109728" cy="10972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21868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Gateway attached for inbound traffic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730752"/>
            <a:ext cx="109728" cy="10972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69417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tables configured for subnet routing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4206240"/>
            <a:ext cx="109728" cy="10972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416966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from other AWS accounts by default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0" y="777240"/>
            <a:ext cx="27889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777240"/>
            <a:ext cx="278892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8229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Security Groups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10128" y="1353312"/>
            <a:ext cx="109728" cy="1097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131673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Security Group: inbound 80, 443, 8000, 22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10128" y="1828800"/>
            <a:ext cx="109728" cy="1097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179222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Security Group: inbound 5432 from EC2 SG only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310128" y="2304288"/>
            <a:ext cx="109728" cy="1097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0" y="226771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SG: inbound 6379 from EC2 SG only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310128" y="2779776"/>
            <a:ext cx="109728" cy="1097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0" y="274320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Outbound: all traffic allowed for external API calls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310128" y="3255264"/>
            <a:ext cx="109728" cy="1097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0" y="321868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access (port 22) restricted to known IPs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310128" y="3730752"/>
            <a:ext cx="109728" cy="1097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0" y="369417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traffic (443) open for CloudFront origin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310128" y="4206240"/>
            <a:ext cx="109728" cy="1097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0" y="416966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of least privilege applied per service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144768" y="777240"/>
            <a:ext cx="27889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44768" y="777240"/>
            <a:ext cx="2788920" cy="457200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36208" y="8229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IAM (Identity &amp; Access Management)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54496" y="1353312"/>
            <a:ext cx="109728" cy="109728"/>
          </a:xfrm>
          <a:prstGeom prst="ellipse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19088" y="131673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User for GitHub Actions CI/CD deployments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254496" y="1828800"/>
            <a:ext cx="109728" cy="109728"/>
          </a:xfrm>
          <a:prstGeom prst="ellipse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19088" y="179222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Policies: AmazonECRFullAccess, AmazonS3FullAccess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254496" y="2304288"/>
            <a:ext cx="109728" cy="109728"/>
          </a:xfrm>
          <a:prstGeom prst="ellipse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19088" y="226771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IAM Role with ECR pull permissions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254496" y="2779776"/>
            <a:ext cx="109728" cy="109728"/>
          </a:xfrm>
          <a:prstGeom prst="ellipse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19088" y="274320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IAM policy per service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254496" y="3255264"/>
            <a:ext cx="109728" cy="109728"/>
          </a:xfrm>
          <a:prstGeom prst="ellipse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19088" y="321868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keys stored as GitHub Secrets (never in code)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254496" y="3730752"/>
            <a:ext cx="109728" cy="109728"/>
          </a:xfrm>
          <a:prstGeom prst="ellipse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19088" y="369417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invalidation permission in IAM policy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254496" y="4206240"/>
            <a:ext cx="109728" cy="109728"/>
          </a:xfrm>
          <a:prstGeom prst="ellipse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19088" y="416966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IAM entities for each service/role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– Frontend (GitHub Actions → S3)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863840" y="146304"/>
            <a:ext cx="1097280" cy="347472"/>
          </a:xfrm>
          <a:prstGeom prst="roundRect">
            <a:avLst>
              <a:gd name="adj" fmla="val 13158"/>
            </a:avLst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workflow triggers automatically on every push to main branch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" y="1234440"/>
            <a:ext cx="20574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234440"/>
            <a:ext cx="2057400" cy="731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0704" y="1399032"/>
            <a:ext cx="420624" cy="420624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0704" y="1417320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" y="192024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main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" y="2276856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pushes code to GitHub main branch → workflow triggers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313432" y="2093976"/>
            <a:ext cx="155448" cy="0"/>
          </a:xfrm>
          <a:prstGeom prst="line">
            <a:avLst/>
          </a:prstGeom>
          <a:noFill/>
          <a:ln w="19050">
            <a:solidFill>
              <a:srgbClr val="1B7A7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68880" y="1234440"/>
            <a:ext cx="20574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68880" y="1234440"/>
            <a:ext cx="2057400" cy="73152"/>
          </a:xfrm>
          <a:prstGeom prst="rect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73552" y="1399032"/>
            <a:ext cx="420624" cy="420624"/>
          </a:xfrm>
          <a:prstGeom prst="ellipse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73552" y="1417320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42032" y="192024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Code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42032" y="2276856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actions/checkout@v4 checks out the latest source code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26280" y="2093976"/>
            <a:ext cx="155448" cy="0"/>
          </a:xfrm>
          <a:prstGeom prst="line">
            <a:avLst/>
          </a:prstGeom>
          <a:noFill/>
          <a:ln w="19050">
            <a:solidFill>
              <a:srgbClr val="1B7A7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81728" y="1234440"/>
            <a:ext cx="20574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81728" y="1234440"/>
            <a:ext cx="2057400" cy="73152"/>
          </a:xfrm>
          <a:prstGeom prst="rect">
            <a:avLst/>
          </a:prstGeom>
          <a:solidFill>
            <a:srgbClr val="1A7A50"/>
          </a:solidFill>
          <a:ln w="12700">
            <a:solidFill>
              <a:srgbClr val="1A7A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0" y="1399032"/>
            <a:ext cx="420624" cy="420624"/>
          </a:xfrm>
          <a:prstGeom prst="ellipse">
            <a:avLst/>
          </a:prstGeom>
          <a:solidFill>
            <a:srgbClr val="1A7A50"/>
          </a:solidFill>
          <a:ln w="12700">
            <a:solidFill>
              <a:srgbClr val="1A7A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0" y="1417320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54880" y="192024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Node.js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2276856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actions/setup-node@v4 installs Node.js v20 environment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739128" y="2093976"/>
            <a:ext cx="155448" cy="0"/>
          </a:xfrm>
          <a:prstGeom prst="line">
            <a:avLst/>
          </a:prstGeom>
          <a:noFill/>
          <a:ln w="19050">
            <a:solidFill>
              <a:srgbClr val="1B7A7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94576" y="1234440"/>
            <a:ext cx="20574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894576" y="1234440"/>
            <a:ext cx="2057400" cy="73152"/>
          </a:xfrm>
          <a:prstGeom prst="rect">
            <a:avLst/>
          </a:prstGeom>
          <a:solidFill>
            <a:srgbClr val="6A3DA8"/>
          </a:solidFill>
          <a:ln w="12700">
            <a:solidFill>
              <a:srgbClr val="6A3DA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99248" y="1399032"/>
            <a:ext cx="420624" cy="420624"/>
          </a:xfrm>
          <a:prstGeom prst="ellipse">
            <a:avLst/>
          </a:prstGeom>
          <a:solidFill>
            <a:srgbClr val="6A3DA8"/>
          </a:solidFill>
          <a:ln w="12700">
            <a:solidFill>
              <a:srgbClr val="6A3D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99248" y="1417320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67728" y="192024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A3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67728" y="2276856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 all frontend dependencies from package.json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56032" y="3154680"/>
            <a:ext cx="20574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56032" y="3154680"/>
            <a:ext cx="2057400" cy="73152"/>
          </a:xfrm>
          <a:prstGeom prst="rect">
            <a:avLst/>
          </a:prstGeom>
          <a:solidFill>
            <a:srgbClr val="CC5200"/>
          </a:solidFill>
          <a:ln w="12700">
            <a:solidFill>
              <a:srgbClr val="CC52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60704" y="3319272"/>
            <a:ext cx="420624" cy="420624"/>
          </a:xfrm>
          <a:prstGeom prst="ellipse">
            <a:avLst/>
          </a:prstGeom>
          <a:solidFill>
            <a:srgbClr val="CC5200"/>
          </a:solidFill>
          <a:ln w="12700">
            <a:solidFill>
              <a:srgbClr val="CC52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60704" y="3337560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29184" y="38404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build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29184" y="4197096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CI=false npm run build — creates optimized production build in build/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313432" y="4014216"/>
            <a:ext cx="155448" cy="0"/>
          </a:xfrm>
          <a:prstGeom prst="line">
            <a:avLst/>
          </a:prstGeom>
          <a:noFill/>
          <a:ln w="19050">
            <a:solidFill>
              <a:srgbClr val="1B7A7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68880" y="3154680"/>
            <a:ext cx="20574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468880" y="3154680"/>
            <a:ext cx="20574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73552" y="3319272"/>
            <a:ext cx="420624" cy="42062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73552" y="3337560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2542032" y="38404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Configure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542032" y="4197096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aws-actions/configure-aws-credentials@v4 using GitHub Secrets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526280" y="4014216"/>
            <a:ext cx="155448" cy="0"/>
          </a:xfrm>
          <a:prstGeom prst="line">
            <a:avLst/>
          </a:prstGeom>
          <a:noFill/>
          <a:ln w="19050">
            <a:solidFill>
              <a:srgbClr val="1B7A7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681728" y="3154680"/>
            <a:ext cx="20574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681728" y="3154680"/>
            <a:ext cx="2057400" cy="731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486400" y="3319272"/>
            <a:ext cx="420624" cy="42062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0" y="3337560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4754880" y="38404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Sync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754880" y="4197096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sync build/ s3://&lt;bucket&gt; --delete — uploads all files, deletes old ones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– Backend (GitHub Actions → ECR → EC2)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863840" y="146304"/>
            <a:ext cx="1097280" cy="347472"/>
          </a:xfrm>
          <a:prstGeom prst="roundRect">
            <a:avLst>
              <a:gd name="adj" fmla="val 13158"/>
            </a:avLst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CI/CD: Docker image built, pushed to ECR, then deployed to EC2 automatically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" y="1234440"/>
            <a:ext cx="281635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234440"/>
            <a:ext cx="2816352" cy="731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53896" y="1399032"/>
            <a:ext cx="420624" cy="420624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53896" y="1417320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" y="1929384"/>
            <a:ext cx="2670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main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" y="2331720"/>
            <a:ext cx="2670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pushed to GitHub → CI/CD workflow triggered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18688" y="1234440"/>
            <a:ext cx="281635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18688" y="1234440"/>
            <a:ext cx="2816352" cy="7315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16552" y="1399032"/>
            <a:ext cx="420624" cy="420624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16552" y="1417320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91840" y="1929384"/>
            <a:ext cx="2670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91840" y="2331720"/>
            <a:ext cx="2670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 -t &lt;image&gt; . — builds Django app image from Dockerfile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81344" y="1234440"/>
            <a:ext cx="281635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81344" y="1234440"/>
            <a:ext cx="2816352" cy="73152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79208" y="1399032"/>
            <a:ext cx="420624" cy="420624"/>
          </a:xfrm>
          <a:prstGeom prst="ellipse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79208" y="1417320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54496" y="1929384"/>
            <a:ext cx="2670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 Login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54496" y="2331720"/>
            <a:ext cx="2670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CLI authenticates to ECR using IAM credentials from GitHub Secrets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6032" y="3200400"/>
            <a:ext cx="281635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56032" y="3200400"/>
            <a:ext cx="2816352" cy="73152"/>
          </a:xfrm>
          <a:prstGeom prst="rect">
            <a:avLst/>
          </a:prstGeom>
          <a:solidFill>
            <a:srgbClr val="6A3DA8"/>
          </a:solidFill>
          <a:ln w="12700">
            <a:solidFill>
              <a:srgbClr val="6A3DA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453896" y="3364992"/>
            <a:ext cx="420624" cy="420624"/>
          </a:xfrm>
          <a:prstGeom prst="ellipse">
            <a:avLst/>
          </a:prstGeom>
          <a:solidFill>
            <a:srgbClr val="6A3DA8"/>
          </a:solidFill>
          <a:ln w="12700">
            <a:solidFill>
              <a:srgbClr val="6A3D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53896" y="3383280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29184" y="3895344"/>
            <a:ext cx="2670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A3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 Push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29184" y="4297680"/>
            <a:ext cx="2670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push → image pushed to private Amazon ECR repository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18688" y="3200400"/>
            <a:ext cx="281635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18688" y="3200400"/>
            <a:ext cx="2816352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16552" y="3364992"/>
            <a:ext cx="420624" cy="42062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16552" y="3383280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291840" y="3895344"/>
            <a:ext cx="2670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to EC2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291840" y="4297680"/>
            <a:ext cx="2670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SSHs into EC2 instance using stored private key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81344" y="3200400"/>
            <a:ext cx="281635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81344" y="3200400"/>
            <a:ext cx="2816352" cy="731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379208" y="3364992"/>
            <a:ext cx="420624" cy="42062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79208" y="3383280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254496" y="3895344"/>
            <a:ext cx="2670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&amp; Run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254496" y="4297680"/>
            <a:ext cx="2670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EC2: docker pull latest image from ECR → docker stop old → docker run new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Features – WebSocket &amp; Chat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863840" y="146304"/>
            <a:ext cx="1097280" cy="347472"/>
          </a:xfrm>
          <a:prstGeom prst="roundRect">
            <a:avLst>
              <a:gd name="adj" fmla="val 13158"/>
            </a:avLst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6032" y="777240"/>
            <a:ext cx="281635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777240"/>
            <a:ext cx="2816352" cy="502920"/>
          </a:xfrm>
          <a:prstGeom prst="rect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8412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Chat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1389888"/>
            <a:ext cx="109728" cy="109728"/>
          </a:xfrm>
          <a:prstGeom prst="ellipse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353312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Channels (4.0) ASGI WebSocket handler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1828800"/>
            <a:ext cx="109728" cy="109728"/>
          </a:xfrm>
          <a:prstGeom prst="ellipse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792224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ChatRoom per patient-doctor pair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267712"/>
            <a:ext cx="109728" cy="109728"/>
          </a:xfrm>
          <a:prstGeom prst="ellipse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231136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types: TEXT, IMAGE, VOICE, FILE, PRESCRIPTION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706624"/>
            <a:ext cx="109728" cy="109728"/>
          </a:xfrm>
          <a:prstGeom prst="ellipse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670048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receipts &amp; read_at timestamp tracking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145536"/>
            <a:ext cx="109728" cy="109728"/>
          </a:xfrm>
          <a:prstGeom prst="ellipse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108960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Online/offline status with last_seen indicator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584448"/>
            <a:ext cx="109728" cy="109728"/>
          </a:xfrm>
          <a:prstGeom prst="ellipse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547872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message recording via browser MediaRecorder API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4023360"/>
            <a:ext cx="109728" cy="109728"/>
          </a:xfrm>
          <a:prstGeom prst="ellipse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3986784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&amp; image sharing in chat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4462272"/>
            <a:ext cx="109728" cy="109728"/>
          </a:xfrm>
          <a:prstGeom prst="ellipse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4425696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cards shareable directly in chat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18688" y="777240"/>
            <a:ext cx="281635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18688" y="777240"/>
            <a:ext cx="2816352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21608" y="8412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Consultation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3328416" y="1389888"/>
            <a:ext cx="109728" cy="10972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93008" y="1353312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Daily.co SDK integrated for video calls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328416" y="1828800"/>
            <a:ext cx="109728" cy="10972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93008" y="1792224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room auto-created on appointment confirmation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328416" y="2267712"/>
            <a:ext cx="109728" cy="10972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93008" y="2231136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meeting_link stored on appointment model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328416" y="2706624"/>
            <a:ext cx="109728" cy="10972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93008" y="2670048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can mark appointment 'Complete' after call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328416" y="3145536"/>
            <a:ext cx="109728" cy="10972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93008" y="3108960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meeting_joined_at tracked for billing/audit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328416" y="3584448"/>
            <a:ext cx="109728" cy="10972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93008" y="3547872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auto-deleted on appointment cancel/reschedule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328416" y="4023360"/>
            <a:ext cx="109728" cy="10972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93008" y="3986784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in-browser — no additional app needed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328416" y="4462272"/>
            <a:ext cx="109728" cy="10972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93008" y="4425696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@daily-co/daily-js frontend SDK integrated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181344" y="777240"/>
            <a:ext cx="281635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81344" y="777240"/>
            <a:ext cx="2816352" cy="502920"/>
          </a:xfrm>
          <a:prstGeom prst="rect">
            <a:avLst/>
          </a:prstGeom>
          <a:solidFill>
            <a:srgbClr val="6A3DA8"/>
          </a:solidFill>
          <a:ln w="12700">
            <a:solidFill>
              <a:srgbClr val="6A3DA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84264" y="8412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6291072" y="1389888"/>
            <a:ext cx="109728" cy="109728"/>
          </a:xfrm>
          <a:prstGeom prst="ellipse">
            <a:avLst/>
          </a:prstGeom>
          <a:solidFill>
            <a:srgbClr val="6A3DA8"/>
          </a:solidFill>
          <a:ln w="12700">
            <a:solidFill>
              <a:srgbClr val="6A3DA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55664" y="1353312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notifications via WebSocket push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291072" y="1828800"/>
            <a:ext cx="109728" cy="109728"/>
          </a:xfrm>
          <a:prstGeom prst="ellipse">
            <a:avLst/>
          </a:prstGeom>
          <a:solidFill>
            <a:srgbClr val="6A3DA8"/>
          </a:solidFill>
          <a:ln w="12700">
            <a:solidFill>
              <a:srgbClr val="6A3DA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55664" y="1792224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Types: Confirmed, Cancelled, Rescheduled, Reminder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291072" y="2267712"/>
            <a:ext cx="109728" cy="109728"/>
          </a:xfrm>
          <a:prstGeom prst="ellipse">
            <a:avLst/>
          </a:prstGeom>
          <a:solidFill>
            <a:srgbClr val="6A3DA8"/>
          </a:solidFill>
          <a:ln w="12700">
            <a:solidFill>
              <a:srgbClr val="6A3DA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55664" y="2231136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bell with unread count badge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291072" y="2706624"/>
            <a:ext cx="109728" cy="109728"/>
          </a:xfrm>
          <a:prstGeom prst="ellipse">
            <a:avLst/>
          </a:prstGeom>
          <a:solidFill>
            <a:srgbClr val="6A3DA8"/>
          </a:solidFill>
          <a:ln w="12700">
            <a:solidFill>
              <a:srgbClr val="6A3DA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55664" y="2670048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 via Gmail SMTP (Django email)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291072" y="3145536"/>
            <a:ext cx="109728" cy="109728"/>
          </a:xfrm>
          <a:prstGeom prst="ellipse">
            <a:avLst/>
          </a:prstGeom>
          <a:solidFill>
            <a:srgbClr val="6A3DA8"/>
          </a:solidFill>
          <a:ln w="12700">
            <a:solidFill>
              <a:srgbClr val="6A3DA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55664" y="3108960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OTP via Fast2SMS API integration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291072" y="3584448"/>
            <a:ext cx="109728" cy="109728"/>
          </a:xfrm>
          <a:prstGeom prst="ellipse">
            <a:avLst/>
          </a:prstGeom>
          <a:solidFill>
            <a:srgbClr val="6A3DA8"/>
          </a:solidFill>
          <a:ln w="12700">
            <a:solidFill>
              <a:srgbClr val="6A3DA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55664" y="3547872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handles async email/SMS delivery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291072" y="4023360"/>
            <a:ext cx="109728" cy="109728"/>
          </a:xfrm>
          <a:prstGeom prst="ellipse">
            <a:avLst/>
          </a:prstGeom>
          <a:solidFill>
            <a:srgbClr val="6A3DA8"/>
          </a:solidFill>
          <a:ln w="12700">
            <a:solidFill>
              <a:srgbClr val="6A3DA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55664" y="3986784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Beat for scheduled meeting reminders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291072" y="4462272"/>
            <a:ext cx="109728" cy="109728"/>
          </a:xfrm>
          <a:prstGeom prst="ellipse">
            <a:avLst/>
          </a:prstGeom>
          <a:solidFill>
            <a:srgbClr val="6A3DA8"/>
          </a:solidFill>
          <a:ln w="12700">
            <a:solidFill>
              <a:srgbClr val="6A3DA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55664" y="4425696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notification records stored in DB</a:t>
            </a:r>
            <a:endParaRPr lang="en-US" sz="950" dirty="0"/>
          </a:p>
        </p:txBody>
      </p:sp>
      <p:pic>
        <p:nvPicPr>
          <p:cNvPr id="6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618488"/>
            <a:ext cx="347472" cy="347472"/>
          </a:xfrm>
          <a:prstGeom prst="rect">
            <a:avLst/>
          </a:prstGeom>
        </p:spPr>
      </p:pic>
      <p:pic>
        <p:nvPicPr>
          <p:cNvPr id="6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28" y="1618488"/>
            <a:ext cx="347472" cy="347472"/>
          </a:xfrm>
          <a:prstGeom prst="rect">
            <a:avLst/>
          </a:prstGeom>
        </p:spPr>
      </p:pic>
      <p:pic>
        <p:nvPicPr>
          <p:cNvPr id="6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618488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Best Practices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863840" y="146304"/>
            <a:ext cx="1097280" cy="347472"/>
          </a:xfrm>
          <a:prstGeom prst="roundRect">
            <a:avLst>
              <a:gd name="adj" fmla="val 13158"/>
            </a:avLst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6032" y="777240"/>
            <a:ext cx="4206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777240"/>
            <a:ext cx="54864" cy="2011680"/>
          </a:xfrm>
          <a:prstGeom prst="rect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777240"/>
            <a:ext cx="4206240" cy="438912"/>
          </a:xfrm>
          <a:prstGeom prst="rect">
            <a:avLst/>
          </a:prstGeom>
          <a:solidFill>
            <a:srgbClr val="1B7A78">
              <a:alpha val="13000"/>
            </a:srgbClr>
          </a:solidFill>
          <a:ln w="12700">
            <a:solidFill>
              <a:srgbClr val="1B7A78">
                <a:alpha val="13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841248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Authentication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3192" y="128930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JWT access (60 min) + refresh (7 days) tokens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93192" y="165506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OTP dual-verification: Email + SMS on registration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93192" y="202082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Bcrypt password hashing via Django AbstractBaseUser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93192" y="238658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CORS restricted to known frontend origins only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90872" y="777240"/>
            <a:ext cx="4206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90872" y="777240"/>
            <a:ext cx="54864" cy="2011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90872" y="777240"/>
            <a:ext cx="4206240" cy="438912"/>
          </a:xfrm>
          <a:prstGeom prst="rect">
            <a:avLst/>
          </a:prstGeom>
          <a:solidFill>
            <a:srgbClr val="1565C0">
              <a:alpha val="13000"/>
            </a:srgbClr>
          </a:solidFill>
          <a:ln w="12700">
            <a:solidFill>
              <a:srgbClr val="1565C0">
                <a:alpha val="13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28032" y="841248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AWS Security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28032" y="128930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IAM least-privilege policies per service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28032" y="165506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Secrets stored as GitHub Secrets – never in code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28032" y="202082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Security Groups block all non-required ports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28032" y="238658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RDS in private subnet, no public endpoint exposed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6032" y="2971800"/>
            <a:ext cx="4206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6032" y="2971800"/>
            <a:ext cx="54864" cy="2011680"/>
          </a:xfrm>
          <a:prstGeom prst="rect">
            <a:avLst/>
          </a:prstGeom>
          <a:solidFill>
            <a:srgbClr val="6A3DA8"/>
          </a:solidFill>
          <a:ln w="12700">
            <a:solidFill>
              <a:srgbClr val="6A3DA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" y="2971800"/>
            <a:ext cx="4206240" cy="438912"/>
          </a:xfrm>
          <a:prstGeom prst="rect">
            <a:avLst/>
          </a:prstGeom>
          <a:solidFill>
            <a:srgbClr val="6A3DA8">
              <a:alpha val="13000"/>
            </a:srgbClr>
          </a:solidFill>
          <a:ln w="12700">
            <a:solidFill>
              <a:srgbClr val="6A3DA8">
                <a:alpha val="13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3192" y="3035808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3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Application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93192" y="348386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HTTPS enforced via CloudFront SSL termination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93192" y="384962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Django ALLOWED_HOSTS and DEBUG=False in prod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93192" y="421538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CORS_ALLOWED_ORIGINS whitelist enforced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93192" y="458114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Input validation via DRF serializers on all APIs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90872" y="2971800"/>
            <a:ext cx="4206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90872" y="2971800"/>
            <a:ext cx="54864" cy="20116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90872" y="2971800"/>
            <a:ext cx="4206240" cy="438912"/>
          </a:xfrm>
          <a:prstGeom prst="rect">
            <a:avLst/>
          </a:prstGeom>
          <a:solidFill>
            <a:srgbClr val="E65100">
              <a:alpha val="13000"/>
            </a:srgbClr>
          </a:solidFill>
          <a:ln w="12700">
            <a:solidFill>
              <a:srgbClr val="E65100">
                <a:alpha val="13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28032" y="3035808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Data &amp; Privacy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28032" y="348386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Sensitive env variables via python-decouple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28032" y="384962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Medical records access restricted by role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28032" y="421538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Anonymous review option available for patients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28032" y="458114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DB credentials never committed to version control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Design &amp; Third-Party Integrations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863840" y="146304"/>
            <a:ext cx="1097280" cy="347472"/>
          </a:xfrm>
          <a:prstGeom prst="roundRect">
            <a:avLst>
              <a:gd name="adj" fmla="val 13158"/>
            </a:avLst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6032" y="777240"/>
            <a:ext cx="45720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777240"/>
            <a:ext cx="4572000" cy="457200"/>
          </a:xfrm>
          <a:prstGeom prst="rect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82296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REST API Modules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" y="13533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/api/v1/auth/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395728" y="13533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Login, OTP, JWT refresh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1645920"/>
            <a:ext cx="4407408" cy="0"/>
          </a:xfrm>
          <a:prstGeom prst="line">
            <a:avLst/>
          </a:prstGeom>
          <a:noFill/>
          <a:ln w="6350">
            <a:solidFill>
              <a:srgbClr val="E8F0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6824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/api/v1/hospitals/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395728" y="168249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CRUD, approval, blacklist, search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1975104"/>
            <a:ext cx="4407408" cy="0"/>
          </a:xfrm>
          <a:prstGeom prst="line">
            <a:avLst/>
          </a:prstGeom>
          <a:noFill/>
          <a:ln w="6350">
            <a:solidFill>
              <a:srgbClr val="E8F0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011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/api/v1/doctors/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395728" y="2011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Profile, slots, leave, approve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2304288"/>
            <a:ext cx="4407408" cy="0"/>
          </a:xfrm>
          <a:prstGeom prst="line">
            <a:avLst/>
          </a:prstGeom>
          <a:noFill/>
          <a:ln w="6350">
            <a:solidFill>
              <a:srgbClr val="E8F0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23408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/api/v1/appointments/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395728" y="234086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Book, confirm, cancel, reschedule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2633472"/>
            <a:ext cx="4407408" cy="0"/>
          </a:xfrm>
          <a:prstGeom prst="line">
            <a:avLst/>
          </a:prstGeom>
          <a:noFill/>
          <a:ln w="6350">
            <a:solidFill>
              <a:srgbClr val="E8F0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6700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/api/v1/prescriptions/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395728" y="26700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list, detail per doctor/patient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2962656"/>
            <a:ext cx="4407408" cy="0"/>
          </a:xfrm>
          <a:prstGeom prst="line">
            <a:avLst/>
          </a:prstGeom>
          <a:noFill/>
          <a:ln w="6350">
            <a:solidFill>
              <a:srgbClr val="E8F0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2999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/api/v1/records/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395728" y="29992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Upload, list medical records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3291840"/>
            <a:ext cx="4407408" cy="0"/>
          </a:xfrm>
          <a:prstGeom prst="line">
            <a:avLst/>
          </a:prstGeom>
          <a:noFill/>
          <a:ln w="6350">
            <a:solidFill>
              <a:srgbClr val="E8F0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3284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/api/v1/chat/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395728" y="332841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rooms, messages REST endpoints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3621024"/>
            <a:ext cx="4407408" cy="0"/>
          </a:xfrm>
          <a:prstGeom prst="line">
            <a:avLst/>
          </a:prstGeom>
          <a:noFill/>
          <a:ln w="6350">
            <a:solidFill>
              <a:srgbClr val="E8F0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3657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/api/v1/notifications/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395728" y="36576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List, mark-read notifications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" y="3950208"/>
            <a:ext cx="4407408" cy="0"/>
          </a:xfrm>
          <a:prstGeom prst="line">
            <a:avLst/>
          </a:prstGeom>
          <a:noFill/>
          <a:ln w="6350">
            <a:solidFill>
              <a:srgbClr val="E8F0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39867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/api/v1/reviews/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395728" y="398678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&amp; hospital reviews, ratings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" y="4279392"/>
            <a:ext cx="4407408" cy="0"/>
          </a:xfrm>
          <a:prstGeom prst="line">
            <a:avLst/>
          </a:prstGeom>
          <a:noFill/>
          <a:ln w="6350">
            <a:solidFill>
              <a:srgbClr val="E8F0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43159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ws://host/ws/chat/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395728" y="43159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WebSocket: real-time chat channel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0040" y="4608576"/>
            <a:ext cx="4407408" cy="0"/>
          </a:xfrm>
          <a:prstGeom prst="line">
            <a:avLst/>
          </a:prstGeom>
          <a:noFill/>
          <a:ln w="6350">
            <a:solidFill>
              <a:srgbClr val="E8F0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" y="46451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ws://host/ws/notif/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395728" y="464515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WebSocket: notification push channel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047488" y="777240"/>
            <a:ext cx="38404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047488" y="777240"/>
            <a:ext cx="3840480" cy="457200"/>
          </a:xfrm>
          <a:prstGeom prst="rect">
            <a:avLst/>
          </a:prstGeom>
          <a:solidFill>
            <a:srgbClr val="6A3DA8"/>
          </a:solidFill>
          <a:ln w="12700">
            <a:solidFill>
              <a:srgbClr val="6A3DA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38928" y="8229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Third-Party Integrations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138928" y="1371600"/>
            <a:ext cx="3657600" cy="6217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30368" y="14173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Daily.co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30368" y="16642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consultation rooms — auto-create, join, delete meetings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138928" y="2121408"/>
            <a:ext cx="3657600" cy="6217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30368" y="2167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Fast2SMS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230368" y="24140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OTP delivery during registration/login for Indian phone numbers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138928" y="2871216"/>
            <a:ext cx="3657600" cy="6217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230368" y="29169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SMTP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230368" y="31638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OTP, appointment confirmations, password reset emails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138928" y="3621024"/>
            <a:ext cx="3657600" cy="6217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30368" y="366674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230368" y="39136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task broker + Django Channels pub/sub layer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138928" y="4370832"/>
            <a:ext cx="3657600" cy="6217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30368" y="44165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drf-spectacular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230368" y="4663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OpenAPI/Swagger documentation generation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Stats &amp; Infrastructure Summary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863840" y="146304"/>
            <a:ext cx="1097280" cy="347472"/>
          </a:xfrm>
          <a:prstGeom prst="roundRect">
            <a:avLst>
              <a:gd name="adj" fmla="val 13158"/>
            </a:avLst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6032" y="777240"/>
            <a:ext cx="1371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777240"/>
            <a:ext cx="1371600" cy="73152"/>
          </a:xfrm>
          <a:prstGeom prst="rect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" y="877824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01752" y="1389888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Modules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737360" y="777240"/>
            <a:ext cx="1371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737360" y="777240"/>
            <a:ext cx="1371600" cy="73152"/>
          </a:xfrm>
          <a:prstGeom prst="rect">
            <a:avLst/>
          </a:prstGeom>
          <a:solidFill>
            <a:srgbClr val="6A3DA8"/>
          </a:solidFill>
          <a:ln w="12700">
            <a:solidFill>
              <a:srgbClr val="6A3D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83080" y="877824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A3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783080" y="1389888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18688" y="777240"/>
            <a:ext cx="1371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18688" y="777240"/>
            <a:ext cx="1371600" cy="7315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64408" y="877824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264408" y="1389888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0016" y="777240"/>
            <a:ext cx="1371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0016" y="777240"/>
            <a:ext cx="13716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45736" y="877824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745736" y="1389888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81344" y="777240"/>
            <a:ext cx="1371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81344" y="777240"/>
            <a:ext cx="1371600" cy="731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27064" y="877824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227064" y="1389888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662672" y="777240"/>
            <a:ext cx="1371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662672" y="777240"/>
            <a:ext cx="1371600" cy="73152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08392" y="877824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7708392" y="1389888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56032" y="2121408"/>
            <a:ext cx="86410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217627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Component Summary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20040" y="2596896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240280" y="2596896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977640" y="259689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440680" y="2596896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20040" y="290779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Hosting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40280" y="2907792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977640" y="2907792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ap-south-1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40680" y="290779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React app hosting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0040" y="3182112"/>
            <a:ext cx="8412480" cy="0"/>
          </a:xfrm>
          <a:prstGeom prst="line">
            <a:avLst/>
          </a:prstGeom>
          <a:noFill/>
          <a:ln w="6350">
            <a:solidFill>
              <a:srgbClr val="E8F0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3218688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240280" y="321868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977640" y="321868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Edge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440680" y="3218688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delivery, caching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0040" y="3493008"/>
            <a:ext cx="8412480" cy="0"/>
          </a:xfrm>
          <a:prstGeom prst="line">
            <a:avLst/>
          </a:prstGeom>
          <a:noFill/>
          <a:ln w="6350">
            <a:solidFill>
              <a:srgbClr val="E8F0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352958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Server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240280" y="3529584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(t2.micro)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977640" y="352958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ap-south-1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440680" y="3529584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Dockerized Django + ASGI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20040" y="3803904"/>
            <a:ext cx="8412480" cy="0"/>
          </a:xfrm>
          <a:prstGeom prst="line">
            <a:avLst/>
          </a:prstGeom>
          <a:noFill/>
          <a:ln w="6350">
            <a:solidFill>
              <a:srgbClr val="E8F0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0040" y="384048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2240280" y="384048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PostgreSQL 15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977640" y="384048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ap-south-1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440680" y="3840480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relational database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20040" y="4114800"/>
            <a:ext cx="8412480" cy="0"/>
          </a:xfrm>
          <a:prstGeom prst="line">
            <a:avLst/>
          </a:prstGeom>
          <a:noFill/>
          <a:ln w="6350">
            <a:solidFill>
              <a:srgbClr val="E8F0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0040" y="4151376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Images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2240280" y="4151376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ECR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3977640" y="415137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ap-south-1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440680" y="4151376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 storage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20040" y="4425696"/>
            <a:ext cx="8412480" cy="0"/>
          </a:xfrm>
          <a:prstGeom prst="line">
            <a:avLst/>
          </a:prstGeom>
          <a:noFill/>
          <a:ln w="6350">
            <a:solidFill>
              <a:srgbClr val="E8F0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0040" y="446227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Queue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2240280" y="4462272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+ Celery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3977640" y="4462272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local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440680" y="446227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email/SMS tasks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320040" y="4736592"/>
            <a:ext cx="8412480" cy="0"/>
          </a:xfrm>
          <a:prstGeom prst="line">
            <a:avLst/>
          </a:prstGeom>
          <a:noFill/>
          <a:ln w="6350">
            <a:solidFill>
              <a:srgbClr val="E8F0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20040" y="4773168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2240280" y="477316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3977640" y="4773168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5440680" y="4773168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build, test, deploy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320040" y="5047488"/>
            <a:ext cx="8412480" cy="0"/>
          </a:xfrm>
          <a:prstGeom prst="line">
            <a:avLst/>
          </a:prstGeom>
          <a:noFill/>
          <a:ln w="6350">
            <a:solidFill>
              <a:srgbClr val="E8F0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20040" y="508406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2240280" y="5084064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VPC + SGs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3977640" y="508406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ap-south-1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5440680" y="5084064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Isolation, access control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320040" y="5358384"/>
            <a:ext cx="8412480" cy="0"/>
          </a:xfrm>
          <a:prstGeom prst="line">
            <a:avLst/>
          </a:prstGeom>
          <a:noFill/>
          <a:ln w="6350">
            <a:solidFill>
              <a:srgbClr val="E8F0F0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&amp; Leave Management Workflow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863840" y="146304"/>
            <a:ext cx="1097280" cy="347472"/>
          </a:xfrm>
          <a:prstGeom prst="roundRect">
            <a:avLst>
              <a:gd name="adj" fmla="val 13158"/>
            </a:avLst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Lifecycle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6032" y="1234440"/>
            <a:ext cx="1115568" cy="685800"/>
          </a:xfrm>
          <a:prstGeom prst="roundRect">
            <a:avLst>
              <a:gd name="adj" fmla="val 10667"/>
            </a:avLst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280160"/>
            <a:ext cx="10424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Slot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371600" y="1572768"/>
            <a:ext cx="109728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81328" y="1234440"/>
            <a:ext cx="1115568" cy="685800"/>
          </a:xfrm>
          <a:prstGeom prst="roundRect">
            <a:avLst>
              <a:gd name="adj" fmla="val 10667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17904" y="1280160"/>
            <a:ext cx="10424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Set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96896" y="1572768"/>
            <a:ext cx="109728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06624" y="1234440"/>
            <a:ext cx="1115568" cy="685800"/>
          </a:xfrm>
          <a:prstGeom prst="roundRect">
            <a:avLst>
              <a:gd name="adj" fmla="val 10667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1280160"/>
            <a:ext cx="10424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822192" y="1572768"/>
            <a:ext cx="109728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31920" y="1234440"/>
            <a:ext cx="1115568" cy="685800"/>
          </a:xfrm>
          <a:prstGeom prst="roundRect">
            <a:avLst>
              <a:gd name="adj" fmla="val 10667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68496" y="1280160"/>
            <a:ext cx="10424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Link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047488" y="1572768"/>
            <a:ext cx="109728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57216" y="1234440"/>
            <a:ext cx="1115568" cy="685800"/>
          </a:xfrm>
          <a:prstGeom prst="roundRect">
            <a:avLst>
              <a:gd name="adj" fmla="val 10667"/>
            </a:avLst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93792" y="1280160"/>
            <a:ext cx="10424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Notified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272784" y="1572768"/>
            <a:ext cx="109728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82512" y="1234440"/>
            <a:ext cx="1115568" cy="685800"/>
          </a:xfrm>
          <a:prstGeom prst="roundRect">
            <a:avLst>
              <a:gd name="adj" fmla="val 10667"/>
            </a:avLst>
          </a:prstGeom>
          <a:solidFill>
            <a:srgbClr val="6A3DA8"/>
          </a:solidFill>
          <a:ln w="12700">
            <a:solidFill>
              <a:srgbClr val="6A3D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280160"/>
            <a:ext cx="10424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Call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498080" y="1572768"/>
            <a:ext cx="109728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07808" y="1234440"/>
            <a:ext cx="1115568" cy="685800"/>
          </a:xfrm>
          <a:prstGeom prst="roundRect">
            <a:avLst>
              <a:gd name="adj" fmla="val 10667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44384" y="1280160"/>
            <a:ext cx="10424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Doctor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481328" y="2057400"/>
            <a:ext cx="1115568" cy="548640"/>
          </a:xfrm>
          <a:prstGeom prst="roundRect">
            <a:avLst>
              <a:gd name="adj" fmla="val 1166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527048" y="2084832"/>
            <a:ext cx="10241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(Room Deleted)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039112" y="1920240"/>
            <a:ext cx="0" cy="137160"/>
          </a:xfrm>
          <a:prstGeom prst="line">
            <a:avLst/>
          </a:prstGeom>
          <a:noFill/>
          <a:ln w="12700">
            <a:solidFill>
              <a:srgbClr val="C0392B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2697480" y="2057400"/>
            <a:ext cx="1115568" cy="548640"/>
          </a:xfrm>
          <a:prstGeom prst="roundRect">
            <a:avLst>
              <a:gd name="adj" fmla="val 11667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0" y="2084832"/>
            <a:ext cx="10241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RESCHEDULED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(New Slot)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255264" y="1920240"/>
            <a:ext cx="0" cy="137160"/>
          </a:xfrm>
          <a:prstGeom prst="line">
            <a:avLst/>
          </a:prstGeom>
          <a:noFill/>
          <a:ln w="12700">
            <a:solidFill>
              <a:srgbClr val="E67E22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256032" y="2788920"/>
            <a:ext cx="8641080" cy="0"/>
          </a:xfrm>
          <a:prstGeom prst="line">
            <a:avLst/>
          </a:prstGeom>
          <a:noFill/>
          <a:ln w="12700">
            <a:solidFill>
              <a:srgbClr val="E0EA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285292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Leave Management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256032" y="3291840"/>
            <a:ext cx="1600200" cy="685800"/>
          </a:xfrm>
          <a:prstGeom prst="roundRect">
            <a:avLst>
              <a:gd name="adj" fmla="val 10667"/>
            </a:avLst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2608" y="3337560"/>
            <a:ext cx="1527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Leave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856232" y="3630168"/>
            <a:ext cx="13716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93392" y="3291840"/>
            <a:ext cx="1600200" cy="685800"/>
          </a:xfrm>
          <a:prstGeom prst="roundRect">
            <a:avLst>
              <a:gd name="adj" fmla="val 10667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9968" y="3337560"/>
            <a:ext cx="1527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593592" y="3630168"/>
            <a:ext cx="13716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730752" y="3291840"/>
            <a:ext cx="1600200" cy="685800"/>
          </a:xfrm>
          <a:prstGeom prst="roundRect">
            <a:avLst>
              <a:gd name="adj" fmla="val 10667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67328" y="3337560"/>
            <a:ext cx="1527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Admin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330952" y="3630168"/>
            <a:ext cx="13716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68112" y="3291840"/>
            <a:ext cx="1600200" cy="685800"/>
          </a:xfrm>
          <a:prstGeom prst="roundRect">
            <a:avLst>
              <a:gd name="adj" fmla="val 10667"/>
            </a:avLst>
          </a:prstGeom>
          <a:solidFill>
            <a:srgbClr val="6A3DA8"/>
          </a:solidFill>
          <a:ln w="12700">
            <a:solidFill>
              <a:srgbClr val="6A3DA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04688" y="3337560"/>
            <a:ext cx="1527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068312" y="3630168"/>
            <a:ext cx="137160" cy="0"/>
          </a:xfrm>
          <a:prstGeom prst="line">
            <a:avLst/>
          </a:prstGeom>
          <a:noFill/>
          <a:ln w="19050">
            <a:solidFill>
              <a:srgbClr val="0D1B2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205472" y="3291840"/>
            <a:ext cx="1600200" cy="685800"/>
          </a:xfrm>
          <a:prstGeom prst="roundRect">
            <a:avLst>
              <a:gd name="adj" fmla="val 10667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42048" y="3337560"/>
            <a:ext cx="1527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Slots Blocked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Date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20040" y="408736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07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APPROVED leave date: Doctor's slots are automatically unavailable for patient booking — system prevents double-booking.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&amp; Doctor Approval + Blacklist System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863840" y="146304"/>
            <a:ext cx="1097280" cy="347472"/>
          </a:xfrm>
          <a:prstGeom prst="roundRect">
            <a:avLst>
              <a:gd name="adj" fmla="val 13158"/>
            </a:avLst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182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6032" y="777240"/>
            <a:ext cx="425196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777240"/>
            <a:ext cx="425196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82296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Hospital Registration Flow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84048" y="1335024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35331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86384" y="1335024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Admin registers with all details + documents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" y="1828800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84708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86384" y="1828800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set to PENDING — awaiting Super Admin review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4048" y="2322576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34086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86384" y="2322576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approves or rejects with reason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4048" y="2816352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83464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86384" y="2816352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APPROVED: hospital visible to patients/doctors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84048" y="3310128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32841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86384" y="3310128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can blacklist approved hospitals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84048" y="3803904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82219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86384" y="3803904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Blacklisted: reason + timestamp stored; hidden from listings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84048" y="4297680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431596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86384" y="4297680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doctors of blacklisted hospital also become inactive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36592" y="777240"/>
            <a:ext cx="425196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36592" y="777240"/>
            <a:ext cx="4251960" cy="457200"/>
          </a:xfrm>
          <a:prstGeom prst="rect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82296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👨‍⚕️  Doctor Registration Flow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864608" y="1335024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64608" y="135331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66944" y="1335024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registers with license, specialization, hospital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64608" y="1828800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64608" y="184708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66944" y="1828800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set to PENDING — awaiting Hospital Admin review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64608" y="2322576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64608" y="234086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266944" y="2322576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Admin approves/rejects doctor in their hospital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64608" y="2816352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64608" y="283464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266944" y="2816352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also has override approval/reject capability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64608" y="3310128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64608" y="332841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266944" y="3310128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doctors can set availability slots &amp; manage leaves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864608" y="3803904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64608" y="382219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266944" y="3803904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Blacklist: individual doctor can be blacklisted by admin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864608" y="4297680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64608" y="431596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266944" y="4297680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Blacklisted doctors cannot accept or appear in searches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1B7A78">
              <a:alpha val="20000"/>
            </a:srgbClr>
          </a:solidFill>
          <a:ln w="12700">
            <a:solidFill>
              <a:srgbClr val="1B7A78">
                <a:alpha val="2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6858000" y="1280160"/>
            <a:ext cx="1828800" cy="1828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73152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7" name="Shape 4"/>
          <p:cNvSpPr/>
          <p:nvPr/>
        </p:nvSpPr>
        <p:spPr>
          <a:xfrm>
            <a:off x="365760" y="1627632"/>
            <a:ext cx="5029200" cy="36576"/>
          </a:xfrm>
          <a:prstGeom prst="rect">
            <a:avLst/>
          </a:prstGeom>
          <a:solidFill>
            <a:srgbClr val="1B7A78"/>
          </a:solidFill>
          <a:ln w="12700">
            <a:solidFill>
              <a:srgbClr val="1B7A7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175564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5A0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Platform – AWS Cloud Architecture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65760" y="2340864"/>
            <a:ext cx="5669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React.js frontend on S3 + CloudFront (CDN + HTTPS)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65760" y="2679192"/>
            <a:ext cx="5669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Django backend containerized in Docker on EC2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65760" y="3017520"/>
            <a:ext cx="5669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PostgreSQL database on Amazon RDS (managed, secure)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65760" y="3355848"/>
            <a:ext cx="5669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Docker images stored &amp; versioned in Amazon ECR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65760" y="3694176"/>
            <a:ext cx="5669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Custom VPC with Security Groups and IAM roles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65760" y="4032504"/>
            <a:ext cx="5669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Automated CI/CD via GitHub Actions for both services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65760" y="4370832"/>
            <a:ext cx="5669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Real-time WebSocket chat + video consultation (Daily.co)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65760" y="4709160"/>
            <a:ext cx="5669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B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OTP authentication, email/SMS notifications, Celery tasks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Platform – AWS Cloud Deployment</dc:title>
  <dc:subject>PptxGenJS Presentation</dc:subject>
  <dc:creator>HealthCare Platform Team</dc:creator>
  <cp:lastModifiedBy>HealthCare Platform Team</cp:lastModifiedBy>
  <cp:revision>1</cp:revision>
  <dcterms:created xsi:type="dcterms:W3CDTF">2026-05-29T04:46:27Z</dcterms:created>
  <dcterms:modified xsi:type="dcterms:W3CDTF">2026-05-29T04:46:27Z</dcterms:modified>
</cp:coreProperties>
</file>